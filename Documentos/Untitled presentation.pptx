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roxima Nova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bold.fntdata"/><Relationship Id="rId23" Type="http://schemas.openxmlformats.org/officeDocument/2006/relationships/font" Target="fonts/ProximaNov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boldItalic.fntdata"/><Relationship Id="rId25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7bed4ee3a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7bed4ee3a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bed4ee3a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97bed4ee3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7bed4ee3a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7bed4ee3a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bed4ee3a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7bed4ee3a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7bed4ee3a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7bed4ee3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7bed4ee3a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7bed4ee3a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7bed4ee3a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7bed4ee3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7bf6aef7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7bf6aef7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7bed4ee3a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7bed4ee3a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97bf6aef7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97bf6aef7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97bf6aef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d97bf6aef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7bed4ee3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7bed4ee3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998779e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998779e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998779ed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998779ed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7bed4ee3a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7bed4ee3a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7bed4ee3a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7bed4ee3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784850"/>
            <a:ext cx="8123100" cy="206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Projeto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Equipe União Flasco</a:t>
            </a:r>
            <a:br>
              <a:rPr lang="en"/>
            </a:br>
            <a:r>
              <a:rPr lang="en"/>
              <a:t>Sistema Plantão Já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56575"/>
            <a:ext cx="81231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Integrantes: Caio Mouta, João Marcos Martins, João Pedro Ferreira, Matheus do Valle, Pedro Ribeiro, Rômulo Ferreira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Sumário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1- Introdução</a:t>
            </a:r>
            <a:br>
              <a:rPr lang="en"/>
            </a:br>
            <a:r>
              <a:rPr lang="en"/>
              <a:t>2- Definições Arquiteturais </a:t>
            </a:r>
            <a:br>
              <a:rPr lang="en"/>
            </a:br>
            <a:r>
              <a:rPr lang="en"/>
              <a:t>3- Modelagem Comportamental e Estrutural Base </a:t>
            </a:r>
            <a:br>
              <a:rPr lang="en"/>
            </a:br>
            <a:r>
              <a:rPr lang="en"/>
              <a:t>4- Projeto Detalhado 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1 - Escopo e Contexto do Sistema 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Proposta do sistema Plantão Já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Atores Principais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2 - Requisitos Arquiteturais e Restrições 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Segurança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Modularização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 title="Diagrama Geral da Arquitetura.drawio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725" y="247738"/>
            <a:ext cx="4487599" cy="464802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title"/>
          </p:nvPr>
        </p:nvSpPr>
        <p:spPr>
          <a:xfrm>
            <a:off x="200725" y="247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120"/>
              <a:t>2 - </a:t>
            </a:r>
            <a:r>
              <a:rPr lang="en" sz="2120"/>
              <a:t>Visão Geral da Arquitetura </a:t>
            </a:r>
            <a:endParaRPr sz="2120"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386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Arquitetura de microsserviços com 5 camadas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Redis (controle de Concorrência)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Filas/Assincronismo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2 - Visão Lógica camadas </a:t>
            </a:r>
            <a:endParaRPr/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-Apresentação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Controlador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Serviço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Persistência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3 - Casos de Uso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1690" y="0"/>
            <a:ext cx="350010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3 - Modelo Conceitual 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1051" y="1017725"/>
            <a:ext cx="6101900" cy="403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ctrTitle"/>
          </p:nvPr>
        </p:nvSpPr>
        <p:spPr>
          <a:xfrm>
            <a:off x="510450" y="784850"/>
            <a:ext cx="8123100" cy="206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4 - Análise dos casos de uso relevantes</a:t>
            </a:r>
            <a:endParaRPr/>
          </a:p>
        </p:txBody>
      </p:sp>
      <p:sp>
        <p:nvSpPr>
          <p:cNvPr id="109" name="Google Shape;109;p21"/>
          <p:cNvSpPr txBox="1"/>
          <p:nvPr>
            <p:ph idx="1" type="subTitle"/>
          </p:nvPr>
        </p:nvSpPr>
        <p:spPr>
          <a:xfrm>
            <a:off x="510450" y="3156575"/>
            <a:ext cx="8123100" cy="11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2419500" y="91150"/>
            <a:ext cx="40116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Busca e inscrição em vaga - M</a:t>
            </a:r>
            <a:r>
              <a:rPr lang="en" sz="2100"/>
              <a:t>édico</a:t>
            </a:r>
            <a:endParaRPr sz="2100"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550" y="621850"/>
            <a:ext cx="2723000" cy="389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09650" y="1468763"/>
            <a:ext cx="5296100" cy="220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2322900" y="161500"/>
            <a:ext cx="44982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Busca e inscrição em vaga - M</a:t>
            </a:r>
            <a:r>
              <a:rPr lang="en" sz="2100"/>
              <a:t>édico</a:t>
            </a:r>
            <a:endParaRPr sz="2100"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46" y="1174547"/>
            <a:ext cx="6016550" cy="279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3"/>
          <p:cNvSpPr txBox="1"/>
          <p:nvPr>
            <p:ph type="title"/>
          </p:nvPr>
        </p:nvSpPr>
        <p:spPr>
          <a:xfrm>
            <a:off x="5866475" y="1375975"/>
            <a:ext cx="3231300" cy="23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1E"/>
              </a:buClr>
              <a:buSzPct val="100000"/>
              <a:buFont typeface="Georgia"/>
              <a:buChar char="●"/>
            </a:pPr>
            <a:r>
              <a:rPr lang="en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Decisão arquitetural principal: microsserviço exclusivo de candidatura.</a:t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1E"/>
              </a:buClr>
              <a:buSzPct val="100000"/>
              <a:buFont typeface="Georgia"/>
              <a:buChar char="●"/>
            </a:pPr>
            <a:r>
              <a:rPr lang="en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Redis como camada serializadora de concorrência.</a:t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1E"/>
              </a:buClr>
              <a:buSzPct val="100000"/>
              <a:buFont typeface="Georgia"/>
              <a:buChar char="●"/>
            </a:pPr>
            <a:r>
              <a:rPr lang="en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Resolve disputas simultâneas sem sobrecarregar o banco principal.</a:t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1E"/>
              </a:buClr>
              <a:buSzPct val="100000"/>
              <a:buFont typeface="Georgia"/>
              <a:buChar char="●"/>
            </a:pPr>
            <a:r>
              <a:rPr lang="en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Melhora desempenho, escalabilidade e previsibilidade do fluxo.</a:t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1E"/>
              </a:buClr>
              <a:buSzPct val="100000"/>
              <a:buFont typeface="Georgia"/>
              <a:buChar char="●"/>
            </a:pPr>
            <a:r>
              <a:rPr lang="en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Regra crítica concentrada no microsserviço, não na navegação.</a:t>
            </a:r>
            <a:endParaRPr sz="1200">
              <a:solidFill>
                <a:srgbClr val="27251E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29718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251E"/>
              </a:buClr>
              <a:buSzPct val="100000"/>
              <a:buFont typeface="Georgia"/>
              <a:buChar char="●"/>
            </a:pPr>
            <a:r>
              <a:rPr lang="en" sz="1200">
                <a:solidFill>
                  <a:srgbClr val="27251E"/>
                </a:solidFill>
                <a:latin typeface="Georgia"/>
                <a:ea typeface="Georgia"/>
                <a:cs typeface="Georgia"/>
                <a:sym typeface="Georgia"/>
              </a:rPr>
              <a:t>Operação autocontida: valida, decide e registra.</a:t>
            </a:r>
            <a:endParaRPr i="1"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2956350" y="91975"/>
            <a:ext cx="32313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Cadastro - Hospital</a:t>
            </a:r>
            <a:endParaRPr sz="2100"/>
          </a:p>
        </p:txBody>
      </p:sp>
      <p:pic>
        <p:nvPicPr>
          <p:cNvPr id="129" name="Google Shape;129;p24" title="DSS_UC00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75075"/>
            <a:ext cx="3778724" cy="42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4" title="DSS_UC000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45899" y="775075"/>
            <a:ext cx="3778724" cy="421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4"/>
          <p:cNvSpPr/>
          <p:nvPr/>
        </p:nvSpPr>
        <p:spPr>
          <a:xfrm>
            <a:off x="385275" y="1610725"/>
            <a:ext cx="63900" cy="33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2065950" y="1610725"/>
            <a:ext cx="63900" cy="339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3683575" y="2135300"/>
            <a:ext cx="63900" cy="1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4" name="Google Shape;134;p24"/>
          <p:cNvSpPr/>
          <p:nvPr/>
        </p:nvSpPr>
        <p:spPr>
          <a:xfrm flipH="1">
            <a:off x="3683575" y="3254425"/>
            <a:ext cx="63900" cy="38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5" name="Google Shape;135;p24"/>
          <p:cNvSpPr/>
          <p:nvPr/>
        </p:nvSpPr>
        <p:spPr>
          <a:xfrm flipH="1">
            <a:off x="2065950" y="3254425"/>
            <a:ext cx="63900" cy="38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24"/>
          <p:cNvSpPr/>
          <p:nvPr/>
        </p:nvSpPr>
        <p:spPr>
          <a:xfrm flipH="1">
            <a:off x="385275" y="3904400"/>
            <a:ext cx="63900" cy="278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2956350" y="91975"/>
            <a:ext cx="32313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Cadastro - Hospital</a:t>
            </a:r>
            <a:endParaRPr sz="2100"/>
          </a:p>
        </p:txBody>
      </p:sp>
      <p:pic>
        <p:nvPicPr>
          <p:cNvPr id="142" name="Google Shape;142;p25" title="Diagrama_de_IteracaoUC001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5350" y="569725"/>
            <a:ext cx="6243000" cy="44515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5"/>
          <p:cNvSpPr/>
          <p:nvPr/>
        </p:nvSpPr>
        <p:spPr>
          <a:xfrm flipH="1">
            <a:off x="1497425" y="1193050"/>
            <a:ext cx="67800" cy="125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2741425" y="1360500"/>
            <a:ext cx="67800" cy="8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3874775" y="1379800"/>
            <a:ext cx="67800" cy="8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5981925" y="1502675"/>
            <a:ext cx="67800" cy="106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7" name="Google Shape;147;p25"/>
          <p:cNvSpPr/>
          <p:nvPr/>
        </p:nvSpPr>
        <p:spPr>
          <a:xfrm flipH="1">
            <a:off x="4987550" y="2261200"/>
            <a:ext cx="67800" cy="15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7315150" y="2707075"/>
            <a:ext cx="67800" cy="170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2741425" y="4267775"/>
            <a:ext cx="67800" cy="15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2741425" y="2719437"/>
            <a:ext cx="67800" cy="152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3910300" y="3098976"/>
            <a:ext cx="67800" cy="46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3910300" y="3802776"/>
            <a:ext cx="67800" cy="465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2684400" y="0"/>
            <a:ext cx="3775200" cy="5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/>
              <a:t>Seleção de médico - </a:t>
            </a:r>
            <a:r>
              <a:rPr lang="en" sz="2100"/>
              <a:t>Hospital</a:t>
            </a:r>
            <a:endParaRPr sz="2100"/>
          </a:p>
        </p:txBody>
      </p:sp>
      <p:pic>
        <p:nvPicPr>
          <p:cNvPr id="158" name="Google Shape;158;p26" title="WhatsApp Image 2026-04-25 at 22.38.04.jpeg"/>
          <p:cNvPicPr preferRelativeResize="0"/>
          <p:nvPr/>
        </p:nvPicPr>
        <p:blipFill rotWithShape="1">
          <a:blip r:embed="rId3">
            <a:alphaModFix/>
          </a:blip>
          <a:srcRect b="-2830" l="0" r="0" t="4550"/>
          <a:stretch/>
        </p:blipFill>
        <p:spPr>
          <a:xfrm>
            <a:off x="1215175" y="461200"/>
            <a:ext cx="6414826" cy="4573176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/>
          <p:nvPr/>
        </p:nvSpPr>
        <p:spPr>
          <a:xfrm>
            <a:off x="1410550" y="1015075"/>
            <a:ext cx="84300" cy="363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0" name="Google Shape;160;p26"/>
          <p:cNvSpPr/>
          <p:nvPr/>
        </p:nvSpPr>
        <p:spPr>
          <a:xfrm>
            <a:off x="2398625" y="1237550"/>
            <a:ext cx="84300" cy="3135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1" name="Google Shape;161;p26"/>
          <p:cNvSpPr/>
          <p:nvPr/>
        </p:nvSpPr>
        <p:spPr>
          <a:xfrm>
            <a:off x="3309400" y="1480875"/>
            <a:ext cx="84300" cy="207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4303625" y="3107800"/>
            <a:ext cx="84300" cy="23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4303625" y="2870825"/>
            <a:ext cx="84300" cy="16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4303625" y="2189500"/>
            <a:ext cx="84300" cy="23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5" name="Google Shape;165;p26"/>
          <p:cNvSpPr/>
          <p:nvPr/>
        </p:nvSpPr>
        <p:spPr>
          <a:xfrm>
            <a:off x="4303625" y="1701050"/>
            <a:ext cx="84300" cy="236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7" title="diagrama de comunicaçã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500" y="193900"/>
            <a:ext cx="7994999" cy="475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4 - Diagrama de Classes Detalhado 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FIM</a:t>
            </a:r>
            <a:endParaRPr/>
          </a:p>
        </p:txBody>
      </p:sp>
      <p:pic>
        <p:nvPicPr>
          <p:cNvPr id="182" name="Google Shape;18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844" y="1600513"/>
            <a:ext cx="2035625" cy="252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171888"/>
            <a:ext cx="3377576" cy="337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